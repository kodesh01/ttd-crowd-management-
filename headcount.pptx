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55" r:id="rId1"/>
  </p:sldMasterIdLst>
  <p:notesMasterIdLst>
    <p:notesMasterId r:id="rId10"/>
  </p:notesMasterIdLst>
  <p:handoutMasterIdLst>
    <p:handoutMasterId r:id="rId11"/>
  </p:handoutMasterIdLst>
  <p:sldIdLst>
    <p:sldId id="281" r:id="rId2"/>
    <p:sldId id="257" r:id="rId3"/>
    <p:sldId id="258" r:id="rId4"/>
    <p:sldId id="282" r:id="rId5"/>
    <p:sldId id="259" r:id="rId6"/>
    <p:sldId id="283" r:id="rId7"/>
    <p:sldId id="260" r:id="rId8"/>
    <p:sldId id="266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FED9AA-6A97-45FF-BCF1-DBD9CFBE798F}">
          <p14:sldIdLst>
            <p14:sldId id="281"/>
            <p14:sldId id="257"/>
          </p14:sldIdLst>
        </p14:section>
        <p14:section name="Section 1" id="{2A7242DC-929E-4579-8F10-2B02EF80F144}">
          <p14:sldIdLst>
            <p14:sldId id="258"/>
            <p14:sldId id="282"/>
            <p14:sldId id="259"/>
            <p14:sldId id="283"/>
            <p14:sldId id="260"/>
          </p14:sldIdLst>
        </p14:section>
        <p14:section name="Section 2" id="{166B4E13-456F-4DE7-8043-47B198AC9D32}">
          <p14:sldIdLst/>
        </p14:section>
        <p14:section name="Section 3" id="{FD1E6B44-63E4-4285-A079-29EC5D274920}">
          <p14:sldIdLst/>
        </p14:section>
        <p14:section name="Section 4" id="{BD0AB789-343F-4F3E-AB6C-9DEB37B93BF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5F74"/>
    <a:srgbClr val="EBBADB"/>
    <a:srgbClr val="FDAF1F"/>
    <a:srgbClr val="C57C86"/>
    <a:srgbClr val="F08310"/>
    <a:srgbClr val="EB5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9DD9DD-9E6C-4910-8AC0-68ADFF6A6AFC}">
  <a:tblStyle styleId="{839DD9DD-9E6C-4910-8AC0-68ADFF6A6AFC}" styleName="Level up! PowerPoin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ap="flat" cmpd="sng" algn="ctr">
              <a:solidFill>
                <a:schemeClr val="accent5"/>
              </a:solidFill>
            </a:ln>
          </a:bottom>
          <a:insideH>
            <a:ln w="9525" cap="flat" cmpd="sng" algn="ctr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/>
        <a:fill>
          <a:noFill/>
        </a:fill>
      </a:tcStyle>
    </a:lastRow>
    <a:firstRow>
      <a:tcTxStyle b="on"/>
      <a:tcStyle>
        <a:tcBdr>
          <a:bottom>
            <a:ln w="9525" cap="flat" cmpd="sng" algn="ctr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291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r">
              <a:defRPr sz="1200"/>
            </a:lvl1pPr>
          </a:lstStyle>
          <a:p>
            <a:fld id="{0E12572B-F973-4732-A453-119EA490170A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r">
              <a:defRPr sz="1200"/>
            </a:lvl1pPr>
          </a:lstStyle>
          <a:p>
            <a:fld id="{8BB83C12-F094-4EDD-ABDC-7BADBDED57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878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r">
              <a:defRPr sz="1200"/>
            </a:lvl1pPr>
          </a:lstStyle>
          <a:p>
            <a:fld id="{3A8927E5-BED3-44D0-9ADF-FA873E1D6DAF}" type="datetimeFigureOut">
              <a:rPr lang="en-US" smtClean="0"/>
              <a:t>7/28/2024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numCol="1" rtlCol="0" anchor="ctr"/>
          <a:lstStyle/>
          <a:p>
            <a:endParaRPr lang="en-GB" alt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numCol="1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r">
              <a:defRPr sz="1200"/>
            </a:lvl1pPr>
          </a:lstStyle>
          <a:p>
            <a:fld id="{7324DA73-AE27-4433-BD53-3E1DB61918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8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7324DA73-AE27-4433-BD53-3E1DB61918F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48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7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82543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62109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68680" y="384048"/>
            <a:ext cx="10744200" cy="866648"/>
          </a:xfrm>
          <a:prstGeom prst="rect">
            <a:avLst/>
          </a:prstGeom>
        </p:spPr>
        <p:txBody>
          <a:bodyPr numCol="1"/>
          <a:lstStyle/>
          <a:p>
            <a:r>
              <a:rPr lang="en-US" dirty="0"/>
              <a:t>Click to edit Master title style</a:t>
            </a:r>
            <a:endParaRPr lang="en-GB" altLang="en-GB" dirty="0"/>
          </a:p>
        </p:txBody>
      </p:sp>
      <p:sp>
        <p:nvSpPr>
          <p:cNvPr id="3" name="Content"/>
          <p:cNvSpPr>
            <a:spLocks noGrp="1"/>
          </p:cNvSpPr>
          <p:nvPr>
            <p:ph idx="11"/>
          </p:nvPr>
        </p:nvSpPr>
        <p:spPr>
          <a:xfrm>
            <a:off x="868680" y="1399032"/>
            <a:ext cx="10744200" cy="4928616"/>
          </a:xfrm>
          <a:prstGeom prst="rect">
            <a:avLst/>
          </a:prstGeo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alt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33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D2037D5-9F9A-4CC9-98B0-68BDD36B02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250551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51" imgH="450" progId="TCLayout.ActiveDocument.1">
                  <p:embed/>
                </p:oleObj>
              </mc:Choice>
              <mc:Fallback>
                <p:oleObj name="think-cell Slide" r:id="rId7" imgW="451" imgH="45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D2037D5-9F9A-4CC9-98B0-68BDD36B0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6E612F5A-FB47-481F-9DE2-4A75D564380A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kern="0" baseline="0" dirty="0" err="1">
              <a:solidFill>
                <a:schemeClr val="tx1"/>
              </a:solidFill>
              <a:latin typeface="Segoe UI Black" panose="020B0A02040204020203" pitchFamily="34" charset="0"/>
              <a:ea typeface="+mj-ea"/>
              <a:cs typeface="+mj-cs"/>
              <a:sym typeface="Segoe UI Black" panose="020B0A02040204020203" pitchFamily="34" charset="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68680" y="384048"/>
            <a:ext cx="10744200" cy="866648"/>
          </a:xfrm>
          <a:prstGeom prst="rect">
            <a:avLst/>
          </a:prstGeom>
        </p:spPr>
        <p:txBody>
          <a:bodyPr vert="horz" lIns="0" tIns="0" rIns="0" bIns="0" numCol="1" rtlCol="0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Text"/>
          <p:cNvSpPr>
            <a:spLocks noGrp="1"/>
          </p:cNvSpPr>
          <p:nvPr>
            <p:ph type="body" idx="1"/>
          </p:nvPr>
        </p:nvSpPr>
        <p:spPr>
          <a:xfrm>
            <a:off x="868680" y="1399032"/>
            <a:ext cx="10744200" cy="4928616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" hidden="1"/>
          <p:cNvSpPr>
            <a:spLocks noGrp="1"/>
          </p:cNvSpPr>
          <p:nvPr>
            <p:ph type="dt" sz="half" idx="2"/>
          </p:nvPr>
        </p:nvSpPr>
        <p:spPr>
          <a:xfrm>
            <a:off x="457200" y="6864350"/>
            <a:ext cx="314325" cy="98425"/>
          </a:xfrm>
          <a:prstGeom prst="rect">
            <a:avLst/>
          </a:prstGeom>
        </p:spPr>
        <p:txBody>
          <a:bodyPr vert="horz" lIns="0" tIns="0" rIns="0" bIns="0" numCol="1" rtlCol="0" anchor="ctr"/>
          <a:lstStyle>
            <a:lvl1pPr algn="l">
              <a:defRPr sz="300">
                <a:solidFill>
                  <a:schemeClr val="accent4"/>
                </a:solidFill>
              </a:defRPr>
            </a:lvl1pPr>
          </a:lstStyle>
          <a:p>
            <a:fld id="{7ECE2914-4E17-487A-A4E5-C87617449E51}" type="datetimeFigureOut">
              <a:rPr lang="en-US" smtClean="0"/>
              <a:pPr/>
              <a:t>7/28/2024</a:t>
            </a:fld>
            <a:endParaRPr lang="en-US" dirty="0"/>
          </a:p>
        </p:txBody>
      </p:sp>
      <p:sp>
        <p:nvSpPr>
          <p:cNvPr id="5" name="Footer Placeholder" hidden="1"/>
          <p:cNvSpPr>
            <a:spLocks noGrp="1"/>
          </p:cNvSpPr>
          <p:nvPr>
            <p:ph type="ftr" sz="quarter" idx="3"/>
          </p:nvPr>
        </p:nvSpPr>
        <p:spPr>
          <a:xfrm>
            <a:off x="771525" y="6864350"/>
            <a:ext cx="533400" cy="98425"/>
          </a:xfrm>
          <a:prstGeom prst="rect">
            <a:avLst/>
          </a:prstGeom>
        </p:spPr>
        <p:txBody>
          <a:bodyPr vert="horz" lIns="0" tIns="0" rIns="0" bIns="0" numCol="1" rtlCol="0" anchor="ctr"/>
          <a:lstStyle>
            <a:lvl1pPr algn="ctr">
              <a:defRPr sz="3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 hidden="1"/>
          <p:cNvSpPr>
            <a:spLocks noGrp="1"/>
          </p:cNvSpPr>
          <p:nvPr>
            <p:ph type="sldNum" sz="quarter" idx="4"/>
          </p:nvPr>
        </p:nvSpPr>
        <p:spPr>
          <a:xfrm>
            <a:off x="1304925" y="6864350"/>
            <a:ext cx="152400" cy="98425"/>
          </a:xfrm>
          <a:prstGeom prst="rect">
            <a:avLst/>
          </a:prstGeom>
        </p:spPr>
        <p:txBody>
          <a:bodyPr vert="horz" lIns="0" tIns="0" rIns="0" bIns="0" numCol="1" rtlCol="0" anchor="ctr"/>
          <a:lstStyle>
            <a:lvl1pPr algn="r">
              <a:defRPr sz="300">
                <a:solidFill>
                  <a:schemeClr val="accent4"/>
                </a:solidFill>
              </a:defRPr>
            </a:lvl1pPr>
          </a:lstStyle>
          <a:p>
            <a:fld id="{8F63CC74-D785-4C96-8C6E-EB177D1B9A1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7BCDC7-33E6-4E0D-8470-BD0036821924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009789" y="384048"/>
            <a:ext cx="711200" cy="616373"/>
          </a:xfrm>
          <a:prstGeom prst="rect">
            <a:avLst/>
          </a:prstGeom>
        </p:spPr>
      </p:pic>
    </p:spTree>
    <p:custDataLst>
      <p:tags r:id="rId4"/>
    </p:custDataLst>
    <p:extLst>
      <p:ext uri="{BB962C8B-B14F-4D97-AF65-F5344CB8AC3E}">
        <p14:creationId xmlns:p14="http://schemas.microsoft.com/office/powerpoint/2010/main" val="2764657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  <p:sldLayoutId id="2147483656" r:id="rId2"/>
  </p:sldLayoutIdLst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3200" ker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700"/>
        </a:spcBef>
        <a:buFont typeface="Arial" panose="020B0604020202020204" pitchFamily="34" charset="0"/>
        <a:buChar char="​"/>
        <a:defRPr sz="2400" kern="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spcBef>
          <a:spcPts val="700"/>
        </a:spcBef>
        <a:buFont typeface="Arial" panose="020B0604020202020204" pitchFamily="34" charset="0"/>
        <a:buChar char="​"/>
        <a:defRPr sz="2400" kern="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252000" algn="l" defTabSz="914400" rtl="0" eaLnBrk="1" latinLnBrk="0" hangingPunct="1">
        <a:spcBef>
          <a:spcPts val="700"/>
        </a:spcBef>
        <a:buFont typeface="Arial" panose="020B0604020202020204" pitchFamily="34" charset="0"/>
        <a:buChar char="•"/>
        <a:defRPr sz="2400" kern="0">
          <a:solidFill>
            <a:schemeClr val="tx1"/>
          </a:solidFill>
          <a:latin typeface="+mn-lt"/>
          <a:ea typeface="+mn-ea"/>
          <a:cs typeface="+mn-cs"/>
        </a:defRPr>
      </a:lvl3pPr>
      <a:lvl4pPr marL="504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–"/>
        <a:defRPr sz="2400" kern="0">
          <a:solidFill>
            <a:schemeClr val="tx1"/>
          </a:solidFill>
          <a:latin typeface="+mn-lt"/>
          <a:ea typeface="+mn-ea"/>
          <a:cs typeface="+mn-cs"/>
        </a:defRPr>
      </a:lvl4pPr>
      <a:lvl5pPr marL="756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5pPr>
      <a:lvl6pPr marL="1008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7pPr>
      <a:lvl8pPr marL="1512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8pPr>
      <a:lvl9pPr marL="1764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1pPr>
      <a:lvl2pPr marL="252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2pPr>
      <a:lvl3pPr marL="504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3pPr>
      <a:lvl4pPr marL="756000" algn="l" defTabSz="914400" rtl="0" eaLnBrk="1" latinLnBrk="0" hangingPunct="1">
        <a:defRPr sz="200" kern="0">
          <a:solidFill>
            <a:schemeClr val="tx1"/>
          </a:solidFill>
          <a:latin typeface="+mn-lt"/>
          <a:ea typeface="+mn-ea"/>
          <a:cs typeface="+mn-cs"/>
        </a:defRPr>
      </a:lvl4pPr>
      <a:lvl5pPr marL="1008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5pPr>
      <a:lvl6pPr marL="1260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6pPr>
      <a:lvl7pPr marL="1512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7pPr>
      <a:lvl8pPr marL="1764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8pPr>
      <a:lvl9pPr marL="2016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4" userDrawn="1">
          <p15:clr>
            <a:srgbClr val="C35EA4"/>
          </p15:clr>
        </p15:guide>
        <p15:guide id="2" pos="7328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26" Type="http://schemas.openxmlformats.org/officeDocument/2006/relationships/image" Target="../media/image7.png"/><Relationship Id="rId3" Type="http://schemas.openxmlformats.org/officeDocument/2006/relationships/tags" Target="../tags/tag10.xml"/><Relationship Id="rId7" Type="http://schemas.openxmlformats.org/officeDocument/2006/relationships/image" Target="../media/image3.emf"/><Relationship Id="rId12" Type="http://schemas.openxmlformats.org/officeDocument/2006/relationships/image" Target="../media/image6.png"/><Relationship Id="rId25" Type="http://schemas.openxmlformats.org/officeDocument/2006/relationships/image" Target="../media/image90.png"/><Relationship Id="rId2" Type="http://schemas.openxmlformats.org/officeDocument/2006/relationships/tags" Target="../tags/tag9.xml"/><Relationship Id="rId29" Type="http://schemas.openxmlformats.org/officeDocument/2006/relationships/image" Target="../media/image8.png"/><Relationship Id="rId1" Type="http://schemas.openxmlformats.org/officeDocument/2006/relationships/tags" Target="../tags/tag8.xml"/><Relationship Id="rId6" Type="http://schemas.openxmlformats.org/officeDocument/2006/relationships/oleObject" Target="../embeddings/oleObject2.bin"/><Relationship Id="rId11" Type="http://schemas.openxmlformats.org/officeDocument/2006/relationships/slide" Target="slide8.xml"/><Relationship Id="rId24" Type="http://schemas.openxmlformats.org/officeDocument/2006/relationships/slide" Target="slide3.xml"/><Relationship Id="rId5" Type="http://schemas.openxmlformats.org/officeDocument/2006/relationships/notesSlide" Target="../notesSlides/notesSlide1.xml"/><Relationship Id="rId28" Type="http://schemas.openxmlformats.org/officeDocument/2006/relationships/image" Target="../media/image100.png"/><Relationship Id="rId10" Type="http://schemas.openxmlformats.org/officeDocument/2006/relationships/image" Target="../media/image5.png"/><Relationship Id="rId31" Type="http://schemas.openxmlformats.org/officeDocument/2006/relationships/image" Target="../media/image110.png"/><Relationship Id="rId4" Type="http://schemas.openxmlformats.org/officeDocument/2006/relationships/slideLayout" Target="../slideLayouts/slideLayout2.xml"/><Relationship Id="rId27" Type="http://schemas.openxmlformats.org/officeDocument/2006/relationships/slide" Target="slide5.xml"/><Relationship Id="rId30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9.jp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0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1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5.jpg"/><Relationship Id="rId5" Type="http://schemas.openxmlformats.org/officeDocument/2006/relationships/image" Target="../media/image3.e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C30878-DBD3-456C-99A7-6C94BC8B5130}"/>
              </a:ext>
            </a:extLst>
          </p:cNvPr>
          <p:cNvSpPr txBox="1">
            <a:spLocks/>
          </p:cNvSpPr>
          <p:nvPr/>
        </p:nvSpPr>
        <p:spPr>
          <a:xfrm>
            <a:off x="630517" y="649941"/>
            <a:ext cx="10887227" cy="3543367"/>
          </a:xfrm>
          <a:prstGeom prst="rect">
            <a:avLst/>
          </a:prstGeom>
        </p:spPr>
        <p:txBody>
          <a:bodyPr lIns="0" tIns="0" rIns="0" bIns="0" numCol="1"/>
          <a:lstStyle>
            <a:lvl1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•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–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6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8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12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6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9600" dirty="0">
                <a:solidFill>
                  <a:schemeClr val="tx1"/>
                </a:solidFill>
              </a:rPr>
              <a:t>AI – BASED</a:t>
            </a:r>
          </a:p>
          <a:p>
            <a:pPr>
              <a:lnSpc>
                <a:spcPct val="80000"/>
              </a:lnSpc>
            </a:pPr>
            <a:r>
              <a:rPr lang="en-US" sz="9600" dirty="0">
                <a:solidFill>
                  <a:schemeClr val="tx1"/>
                </a:solidFill>
              </a:rPr>
              <a:t>HEAD COUNTING</a:t>
            </a:r>
          </a:p>
          <a:p>
            <a:pPr>
              <a:lnSpc>
                <a:spcPct val="80000"/>
              </a:lnSpc>
            </a:pPr>
            <a:r>
              <a:rPr lang="en-US" sz="9600" dirty="0">
                <a:solidFill>
                  <a:schemeClr val="tx1"/>
                </a:solidFill>
              </a:rPr>
              <a:t>SYSTEM</a:t>
            </a:r>
          </a:p>
          <a:p>
            <a:pPr>
              <a:lnSpc>
                <a:spcPct val="80000"/>
              </a:lnSpc>
            </a:pPr>
            <a:r>
              <a:rPr lang="en-IN" dirty="0"/>
              <a:t>Enhancing Analytics</a:t>
            </a:r>
            <a:r>
              <a:rPr lang="en-US" dirty="0">
                <a:solidFill>
                  <a:schemeClr val="tx1"/>
                </a:solidFill>
              </a:rPr>
              <a:t>   </a:t>
            </a:r>
          </a:p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</a:rPr>
              <a:t>   						By : </a:t>
            </a:r>
            <a:r>
              <a:rPr lang="en-US" sz="3200" dirty="0" err="1">
                <a:solidFill>
                  <a:schemeClr val="accent1"/>
                </a:solidFill>
              </a:rPr>
              <a:t>Jano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 err="1">
                <a:solidFill>
                  <a:schemeClr val="accent1"/>
                </a:solidFill>
              </a:rPr>
              <a:t>koesh</a:t>
            </a:r>
            <a:r>
              <a:rPr lang="en-US" sz="3200" dirty="0">
                <a:solidFill>
                  <a:schemeClr val="accent1"/>
                </a:solidFill>
              </a:rPr>
              <a:t> M</a:t>
            </a:r>
          </a:p>
          <a:p>
            <a:pPr>
              <a:lnSpc>
                <a:spcPct val="80000"/>
              </a:lnSpc>
              <a:buNone/>
            </a:pPr>
            <a:r>
              <a:rPr lang="en-US" sz="3200" dirty="0"/>
              <a:t>							Hari</a:t>
            </a:r>
          </a:p>
          <a:p>
            <a:pPr>
              <a:lnSpc>
                <a:spcPct val="80000"/>
              </a:lnSpc>
              <a:buNone/>
            </a:pPr>
            <a:r>
              <a:rPr lang="en-US" sz="3200" dirty="0"/>
              <a:t>							</a:t>
            </a:r>
            <a:r>
              <a:rPr lang="en-US" sz="3200" dirty="0" err="1"/>
              <a:t>Vijayamadaeshwar</a:t>
            </a:r>
            <a:r>
              <a:rPr lang="en-US" sz="3200" dirty="0"/>
              <a:t> M                      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9123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2733E1C-109C-49C0-87D5-2F213696020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4" imgH="344" progId="TCLayout.ActiveDocument.1">
                  <p:embed/>
                </p:oleObj>
              </mc:Choice>
              <mc:Fallback>
                <p:oleObj name="think-cell Slide" r:id="rId6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2733E1C-109C-49C0-87D5-2F21369602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CA4ACE5-10D3-415B-9571-45426C854FA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endParaRPr lang="en-US" sz="3200" kern="0" dirty="0" err="1">
              <a:solidFill>
                <a:schemeClr val="tx1"/>
              </a:solidFill>
              <a:latin typeface="Segoe UI Black" panose="020B0A02040204020203" pitchFamily="34" charset="0"/>
              <a:ea typeface="+mj-ea"/>
              <a:cs typeface="+mj-cs"/>
              <a:sym typeface="Segoe UI Black" panose="020B0A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36BFA-5538-4513-9B75-F06B323E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dirty="0"/>
              <a:t>AGENDA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80BC78-EA0F-4D0B-85C2-CDA92F978662}"/>
              </a:ext>
            </a:extLst>
          </p:cNvPr>
          <p:cNvSpPr txBox="1"/>
          <p:nvPr/>
        </p:nvSpPr>
        <p:spPr>
          <a:xfrm>
            <a:off x="868680" y="817372"/>
            <a:ext cx="2164054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1400" kern="0" dirty="0">
                <a:solidFill>
                  <a:schemeClr val="accent1"/>
                </a:solidFill>
              </a:rPr>
              <a:t>SIT BACK | RELAX | ENJOY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A5D89F-7E4B-484F-80BF-9905E5C9AF78}"/>
              </a:ext>
            </a:extLst>
          </p:cNvPr>
          <p:cNvSpPr txBox="1"/>
          <p:nvPr/>
        </p:nvSpPr>
        <p:spPr>
          <a:xfrm>
            <a:off x="890451" y="1705667"/>
            <a:ext cx="415178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>
            <a:defPPr>
              <a:defRPr lang="en-US"/>
            </a:defPPr>
            <a:lvl1pPr>
              <a:defRPr sz="1000" kern="0">
                <a:solidFill>
                  <a:schemeClr val="accent1"/>
                </a:solidFill>
              </a:defRPr>
            </a:lvl1pPr>
          </a:lstStyle>
          <a:p>
            <a:r>
              <a:rPr lang="de-DE" altLang="de-DE" sz="1400" dirty="0"/>
              <a:t>Body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92D6CE-8AB5-46B4-8DCC-4CD105CE615F}"/>
              </a:ext>
            </a:extLst>
          </p:cNvPr>
          <p:cNvSpPr txBox="1"/>
          <p:nvPr/>
        </p:nvSpPr>
        <p:spPr>
          <a:xfrm>
            <a:off x="6001932" y="1766130"/>
            <a:ext cx="304571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>
            <a:defPPr>
              <a:defRPr lang="en-US"/>
            </a:defPPr>
            <a:lvl1pPr>
              <a:defRPr sz="1000" kern="0">
                <a:solidFill>
                  <a:schemeClr val="accent1"/>
                </a:solidFill>
              </a:defRPr>
            </a:lvl1pPr>
          </a:lstStyle>
          <a:p>
            <a:r>
              <a:rPr lang="de-DE" altLang="de-DE" sz="1400" dirty="0"/>
              <a:t>End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0" name="Section Zoom 9">
                <a:extLst>
                  <a:ext uri="{FF2B5EF4-FFF2-40B4-BE49-F238E27FC236}">
                    <a16:creationId xmlns:a16="http://schemas.microsoft.com/office/drawing/2014/main" id="{134683BA-80C1-4EEF-871C-B398849770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7473282"/>
                  </p:ext>
                </p:extLst>
              </p:nvPr>
            </p:nvGraphicFramePr>
            <p:xfrm>
              <a:off x="5650175" y="2172950"/>
              <a:ext cx="1463040" cy="822960"/>
            </p:xfrm>
            <a:graphic>
              <a:graphicData uri="http://schemas.microsoft.com/office/powerpoint/2016/sectionzoom">
                <psez:sectionZm>
                  <psez:sectionZmObj sectionId="{BD0AB789-343F-4F3E-AB6C-9DEB37B93BF8}">
                    <psez:zmPr id="{B51BB371-3F87-41EB-AF53-9A10081CCEEB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3040" cy="82296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63500" sx="103000" sy="103000" algn="ctr" rotWithShape="0">
                            <a:schemeClr val="tx1">
                              <a:alpha val="10000"/>
                            </a:scheme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0" name="Section Zoom 9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134683BA-80C1-4EEF-871C-B3988497708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50175" y="2172950"/>
                <a:ext cx="1463040" cy="822960"/>
              </a:xfrm>
              <a:prstGeom prst="rect">
                <a:avLst/>
              </a:prstGeom>
              <a:ln w="3175">
                <a:noFill/>
              </a:ln>
              <a:effectLst>
                <a:outerShdw blurRad="63500" sx="103000" sy="103000" algn="ctr" rotWithShape="0">
                  <a:schemeClr val="tx1">
                    <a:alpha val="10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AEE89D57-D776-411D-8896-742240C050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2987331"/>
                  </p:ext>
                </p:extLst>
              </p:nvPr>
            </p:nvGraphicFramePr>
            <p:xfrm>
              <a:off x="890451" y="2266950"/>
              <a:ext cx="1463040" cy="822960"/>
            </p:xfrm>
            <a:graphic>
              <a:graphicData uri="http://schemas.microsoft.com/office/powerpoint/2016/slidezoom">
                <pslz:sldZm>
                  <pslz:sldZmObj sldId="258" cId="1577662384">
                    <pslz:zmPr id="{2B1AFEA9-5748-4715-A442-AC3FF983E002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3040" cy="82296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63500" sx="103000" sy="103000" algn="ctr" rotWithShape="0">
                            <a:schemeClr val="tx1">
                              <a:alpha val="10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AEE89D57-D776-411D-8896-742240C050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90451" y="2266950"/>
                <a:ext cx="1463040" cy="822960"/>
              </a:xfrm>
              <a:prstGeom prst="rect">
                <a:avLst/>
              </a:prstGeom>
              <a:ln w="3175">
                <a:noFill/>
              </a:ln>
              <a:effectLst>
                <a:outerShdw blurRad="63500" sx="103000" sy="103000" algn="ctr" rotWithShape="0">
                  <a:schemeClr val="tx1">
                    <a:alpha val="10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Slide Zoom 27">
                <a:extLst>
                  <a:ext uri="{FF2B5EF4-FFF2-40B4-BE49-F238E27FC236}">
                    <a16:creationId xmlns:a16="http://schemas.microsoft.com/office/drawing/2014/main" id="{F6A1FF00-E582-4810-B35A-AE561CB331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58667108"/>
                  </p:ext>
                </p:extLst>
              </p:nvPr>
            </p:nvGraphicFramePr>
            <p:xfrm>
              <a:off x="890451" y="3186833"/>
              <a:ext cx="1463040" cy="822960"/>
            </p:xfrm>
            <a:graphic>
              <a:graphicData uri="http://schemas.microsoft.com/office/powerpoint/2016/slidezoom">
                <pslz:sldZm>
                  <pslz:sldZmObj sldId="259" cId="2362446551">
                    <pslz:zmPr id="{963233F1-FE5E-451D-961C-22A20AA01AD4}" transitionDur="100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3040" cy="82296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63500" sx="103000" sy="103000" algn="ctr" rotWithShape="0">
                            <a:schemeClr val="tx1">
                              <a:alpha val="10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Slide Zoom 27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F6A1FF00-E582-4810-B35A-AE561CB331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0451" y="3186833"/>
                <a:ext cx="1463040" cy="822960"/>
              </a:xfrm>
              <a:prstGeom prst="rect">
                <a:avLst/>
              </a:prstGeom>
              <a:ln w="3175">
                <a:noFill/>
              </a:ln>
              <a:effectLst>
                <a:outerShdw blurRad="63500" sx="103000" sy="103000" algn="ctr" rotWithShape="0">
                  <a:schemeClr val="tx1">
                    <a:alpha val="10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0" name="Slide Zoom 29">
                <a:extLst>
                  <a:ext uri="{FF2B5EF4-FFF2-40B4-BE49-F238E27FC236}">
                    <a16:creationId xmlns:a16="http://schemas.microsoft.com/office/drawing/2014/main" id="{6C0617A1-19DC-4C19-AC5A-35D3CABF16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1543352"/>
                  </p:ext>
                </p:extLst>
              </p:nvPr>
            </p:nvGraphicFramePr>
            <p:xfrm>
              <a:off x="890451" y="4106717"/>
              <a:ext cx="1463040" cy="822960"/>
            </p:xfrm>
            <a:graphic>
              <a:graphicData uri="http://schemas.microsoft.com/office/powerpoint/2016/slidezoom">
                <pslz:sldZm>
                  <pslz:sldZmObj sldId="260" cId="676304674">
                    <pslz:zmPr id="{C9C54784-E90D-4D44-BDEB-4D863292A2D0}" transitionDur="1000">
                      <p166:blipFill xmlns:p166="http://schemas.microsoft.com/office/powerpoint/2016/6/main">
                        <a:blip r:embed="rId2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3040" cy="82296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63500" sx="103000" sy="103000" algn="ctr" rotWithShape="0">
                            <a:schemeClr val="tx1">
                              <a:alpha val="10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0" name="Slide Zoom 29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6C0617A1-19DC-4C19-AC5A-35D3CABF16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0451" y="4106717"/>
                <a:ext cx="1463040" cy="822960"/>
              </a:xfrm>
              <a:prstGeom prst="rect">
                <a:avLst/>
              </a:prstGeom>
              <a:ln w="3175">
                <a:noFill/>
              </a:ln>
              <a:effectLst>
                <a:outerShdw blurRad="63500" sx="103000" sy="103000" algn="ctr" rotWithShape="0">
                  <a:schemeClr val="tx1">
                    <a:alpha val="10000"/>
                  </a:schemeClr>
                </a:outerShdw>
              </a:effectLst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28790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18B07EE-A45E-4446-A223-5B883B13E13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18B07EE-A45E-4446-A223-5B883B13E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8813BB-D448-4521-9F33-B74EFDC2BCD9}"/>
              </a:ext>
            </a:extLst>
          </p:cNvPr>
          <p:cNvSpPr/>
          <p:nvPr/>
        </p:nvSpPr>
        <p:spPr>
          <a:xfrm>
            <a:off x="5393227" y="2166484"/>
            <a:ext cx="5524168" cy="25980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F08B3-37B7-4D5C-80DD-85ECEA54CD23}"/>
              </a:ext>
            </a:extLst>
          </p:cNvPr>
          <p:cNvSpPr/>
          <p:nvPr/>
        </p:nvSpPr>
        <p:spPr>
          <a:xfrm>
            <a:off x="5500914" y="1412341"/>
            <a:ext cx="6691086" cy="40333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833B0-BA71-4453-853F-974C3C7535A2}"/>
              </a:ext>
            </a:extLst>
          </p:cNvPr>
          <p:cNvSpPr txBox="1"/>
          <p:nvPr/>
        </p:nvSpPr>
        <p:spPr>
          <a:xfrm>
            <a:off x="5604380" y="1058488"/>
            <a:ext cx="5097132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r>
              <a:rPr lang="de-DE" altLang="de-DE" sz="3600" dirty="0">
                <a:latin typeface="+mj-lt"/>
              </a:rPr>
              <a:t>	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D49EC-E6A4-4053-A5B4-CB9DBB8C3F88}"/>
              </a:ext>
            </a:extLst>
          </p:cNvPr>
          <p:cNvSpPr txBox="1"/>
          <p:nvPr/>
        </p:nvSpPr>
        <p:spPr>
          <a:xfrm>
            <a:off x="5781591" y="2166484"/>
            <a:ext cx="5848524" cy="2954655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en-US" altLang="de-DE" sz="2400" dirty="0">
                <a:solidFill>
                  <a:schemeClr val="accent5"/>
                </a:solidFill>
              </a:rPr>
              <a:t>We have developed a automated solution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for </a:t>
            </a:r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counting people using AI</a:t>
            </a:r>
          </a:p>
          <a:p>
            <a:endParaRPr lang="en-US" altLang="de-DE" sz="2400" dirty="0">
              <a:solidFill>
                <a:schemeClr val="accent5"/>
              </a:solidFill>
            </a:endParaRPr>
          </a:p>
          <a:p>
            <a:r>
              <a:rPr lang="en-US" altLang="de-DE" sz="2400" dirty="0">
                <a:solidFill>
                  <a:schemeClr val="accent5"/>
                </a:solidFill>
              </a:rPr>
              <a:t>By combining the power of an AI camera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with the </a:t>
            </a:r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YOLO (You Only Look Once)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algorithm, we </a:t>
            </a:r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aim to create a robust and </a:t>
            </a:r>
          </a:p>
          <a:p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efficient system</a:t>
            </a:r>
            <a:r>
              <a:rPr lang="en-US" altLang="de-DE" sz="2400" dirty="0">
                <a:solidFill>
                  <a:schemeClr val="accent5"/>
                </a:solidFill>
              </a:rPr>
              <a:t> for real-time people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counting.</a:t>
            </a:r>
            <a:endParaRPr lang="de-DE" altLang="de-DE" sz="2400" dirty="0">
              <a:solidFill>
                <a:schemeClr val="accent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7719D-A237-3ED2-CAD8-9D0D98CE98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5082" y="1661065"/>
            <a:ext cx="3807185" cy="36088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766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18B07EE-A45E-4446-A223-5B883B13E13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18B07EE-A45E-4446-A223-5B883B13E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8813BB-D448-4521-9F33-B74EFDC2BCD9}"/>
              </a:ext>
            </a:extLst>
          </p:cNvPr>
          <p:cNvSpPr/>
          <p:nvPr/>
        </p:nvSpPr>
        <p:spPr>
          <a:xfrm>
            <a:off x="5375297" y="1562286"/>
            <a:ext cx="5524168" cy="25980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F08B3-37B7-4D5C-80DD-85ECEA54CD23}"/>
              </a:ext>
            </a:extLst>
          </p:cNvPr>
          <p:cNvSpPr/>
          <p:nvPr/>
        </p:nvSpPr>
        <p:spPr>
          <a:xfrm>
            <a:off x="5500914" y="1412341"/>
            <a:ext cx="6691086" cy="40333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833B0-BA71-4453-853F-974C3C7535A2}"/>
              </a:ext>
            </a:extLst>
          </p:cNvPr>
          <p:cNvSpPr txBox="1"/>
          <p:nvPr/>
        </p:nvSpPr>
        <p:spPr>
          <a:xfrm>
            <a:off x="2960783" y="425949"/>
            <a:ext cx="5097132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algn="ctr"/>
            <a:r>
              <a:rPr lang="de-DE" altLang="de-DE" sz="3600" dirty="0">
                <a:latin typeface="+mj-lt"/>
              </a:rPr>
              <a:t>Methodology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D49EC-E6A4-4053-A5B4-CB9DBB8C3F88}"/>
              </a:ext>
            </a:extLst>
          </p:cNvPr>
          <p:cNvSpPr txBox="1"/>
          <p:nvPr/>
        </p:nvSpPr>
        <p:spPr>
          <a:xfrm>
            <a:off x="2339999" y="3419719"/>
            <a:ext cx="747384" cy="73866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en-IN" altLang="de-DE" sz="2400" dirty="0">
                <a:solidFill>
                  <a:schemeClr val="accent5"/>
                </a:solidFill>
              </a:rPr>
              <a:t>CCTV</a:t>
            </a:r>
            <a:endParaRPr lang="de-DE" altLang="de-DE" sz="2400" dirty="0">
              <a:solidFill>
                <a:schemeClr val="accent5"/>
              </a:solidFill>
            </a:endParaRPr>
          </a:p>
          <a:p>
            <a:endParaRPr lang="de-DE" altLang="de-DE" sz="2400" dirty="0">
              <a:solidFill>
                <a:schemeClr val="accent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E7E2F-ED73-EA55-C107-84CE99091CB0}"/>
              </a:ext>
            </a:extLst>
          </p:cNvPr>
          <p:cNvSpPr txBox="1"/>
          <p:nvPr/>
        </p:nvSpPr>
        <p:spPr>
          <a:xfrm>
            <a:off x="5025318" y="5878053"/>
            <a:ext cx="1070682" cy="67710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r>
              <a:rPr lang="en-IN" altLang="de-DE" sz="2000" dirty="0">
                <a:solidFill>
                  <a:schemeClr val="accent5"/>
                </a:solidFill>
              </a:rPr>
              <a:t>YOLO V3</a:t>
            </a:r>
            <a:endParaRPr lang="de-DE" altLang="de-DE" sz="2000" dirty="0">
              <a:solidFill>
                <a:schemeClr val="accent5"/>
              </a:solidFill>
            </a:endParaRPr>
          </a:p>
          <a:p>
            <a:endParaRPr lang="de-DE" altLang="de-DE" sz="2400" dirty="0">
              <a:solidFill>
                <a:schemeClr val="accent5"/>
              </a:solidFill>
            </a:endParaRPr>
          </a:p>
        </p:txBody>
      </p:sp>
      <p:pic>
        <p:nvPicPr>
          <p:cNvPr id="1026" name="Picture 2" descr="CCTV PNG Images (Transparent HD Photo Clipart)">
            <a:extLst>
              <a:ext uri="{FF2B5EF4-FFF2-40B4-BE49-F238E27FC236}">
                <a16:creationId xmlns:a16="http://schemas.microsoft.com/office/drawing/2014/main" id="{93E2DB4C-F24C-B06F-6601-CDDB4CB6C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441" y="1612611"/>
            <a:ext cx="1852901" cy="185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6693A7-80F9-47E3-8C5F-1AEA1DE9EF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3383" y="4416385"/>
            <a:ext cx="1671932" cy="1671932"/>
          </a:xfrm>
          <a:prstGeom prst="rect">
            <a:avLst/>
          </a:prstGeom>
        </p:spPr>
      </p:pic>
      <p:pic>
        <p:nvPicPr>
          <p:cNvPr id="1044" name="Picture 20" descr="Data PNGs for Free Download">
            <a:extLst>
              <a:ext uri="{FF2B5EF4-FFF2-40B4-BE49-F238E27FC236}">
                <a16:creationId xmlns:a16="http://schemas.microsoft.com/office/drawing/2014/main" id="{9C86849A-DF26-FA3B-C49E-6AF981F6A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399" y="1163524"/>
            <a:ext cx="3672683" cy="275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D224E37-30FF-C03A-9325-AFF9C3348833}"/>
              </a:ext>
            </a:extLst>
          </p:cNvPr>
          <p:cNvSpPr txBox="1"/>
          <p:nvPr/>
        </p:nvSpPr>
        <p:spPr>
          <a:xfrm>
            <a:off x="8390962" y="3819829"/>
            <a:ext cx="1755390" cy="67710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r>
              <a:rPr lang="en-IN" altLang="de-DE" sz="2000" dirty="0">
                <a:solidFill>
                  <a:schemeClr val="accent5"/>
                </a:solidFill>
              </a:rPr>
              <a:t>INFORMATION</a:t>
            </a:r>
            <a:endParaRPr lang="de-DE" altLang="de-DE" sz="2000" dirty="0">
              <a:solidFill>
                <a:schemeClr val="accent5"/>
              </a:solidFill>
            </a:endParaRPr>
          </a:p>
          <a:p>
            <a:endParaRPr lang="de-DE" altLang="de-DE" sz="2400" dirty="0">
              <a:solidFill>
                <a:schemeClr val="accent5"/>
              </a:solidFill>
            </a:endParaRPr>
          </a:p>
        </p:txBody>
      </p:sp>
      <p:pic>
        <p:nvPicPr>
          <p:cNvPr id="1062" name="Picture 38">
            <a:extLst>
              <a:ext uri="{FF2B5EF4-FFF2-40B4-BE49-F238E27FC236}">
                <a16:creationId xmlns:a16="http://schemas.microsoft.com/office/drawing/2014/main" id="{8B80CD91-563B-BE6A-9261-EB33C9404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54003">
            <a:off x="2772198" y="3941133"/>
            <a:ext cx="1690937" cy="169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8">
            <a:extLst>
              <a:ext uri="{FF2B5EF4-FFF2-40B4-BE49-F238E27FC236}">
                <a16:creationId xmlns:a16="http://schemas.microsoft.com/office/drawing/2014/main" id="{5529C074-4395-96A8-AA5B-5EC2B4CAE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163336">
            <a:off x="6770792" y="4142686"/>
            <a:ext cx="1690937" cy="169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EF1DAAB-A8D9-EFF4-FB3A-FE8D11A420F7}"/>
              </a:ext>
            </a:extLst>
          </p:cNvPr>
          <p:cNvSpPr txBox="1"/>
          <p:nvPr/>
        </p:nvSpPr>
        <p:spPr>
          <a:xfrm>
            <a:off x="2786418" y="5080471"/>
            <a:ext cx="850314" cy="507831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r>
              <a:rPr lang="en-IN" altLang="de-DE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Live stream </a:t>
            </a:r>
          </a:p>
          <a:p>
            <a:pPr algn="ctr"/>
            <a:r>
              <a:rPr lang="en-IN" altLang="de-DE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video </a:t>
            </a:r>
            <a:endParaRPr lang="de-DE" altLang="de-DE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de-DE" altLang="de-DE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E84F14-4599-8CBE-F3C3-AC13ABBE0DF6}"/>
              </a:ext>
            </a:extLst>
          </p:cNvPr>
          <p:cNvSpPr txBox="1"/>
          <p:nvPr/>
        </p:nvSpPr>
        <p:spPr>
          <a:xfrm>
            <a:off x="7863234" y="5232415"/>
            <a:ext cx="760814" cy="169277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r>
              <a:rPr lang="en-IN" altLang="de-DE" sz="1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Raw Data</a:t>
            </a:r>
            <a:endParaRPr lang="de-DE" altLang="de-DE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24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5" grpId="0"/>
      <p:bldP spid="14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18B07EE-A45E-4446-A223-5B883B13E13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18B07EE-A45E-4446-A223-5B883B13E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8813BB-D448-4521-9F33-B74EFDC2BCD9}"/>
              </a:ext>
            </a:extLst>
          </p:cNvPr>
          <p:cNvSpPr/>
          <p:nvPr/>
        </p:nvSpPr>
        <p:spPr>
          <a:xfrm>
            <a:off x="5393227" y="2166484"/>
            <a:ext cx="5524168" cy="25980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F08B3-37B7-4D5C-80DD-85ECEA54CD23}"/>
              </a:ext>
            </a:extLst>
          </p:cNvPr>
          <p:cNvSpPr/>
          <p:nvPr/>
        </p:nvSpPr>
        <p:spPr>
          <a:xfrm>
            <a:off x="5500914" y="1629624"/>
            <a:ext cx="6691086" cy="35987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833B0-BA71-4453-853F-974C3C7535A2}"/>
              </a:ext>
            </a:extLst>
          </p:cNvPr>
          <p:cNvSpPr txBox="1"/>
          <p:nvPr/>
        </p:nvSpPr>
        <p:spPr>
          <a:xfrm>
            <a:off x="3694153" y="374189"/>
            <a:ext cx="2862963" cy="553998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3600" dirty="0">
                <a:latin typeface="+mj-lt"/>
              </a:rPr>
              <a:t>WHY YOLO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D49EC-E6A4-4053-A5B4-CB9DBB8C3F88}"/>
              </a:ext>
            </a:extLst>
          </p:cNvPr>
          <p:cNvSpPr txBox="1"/>
          <p:nvPr/>
        </p:nvSpPr>
        <p:spPr>
          <a:xfrm>
            <a:off x="5723554" y="1893810"/>
            <a:ext cx="6304739" cy="5170646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Processes</a:t>
            </a:r>
            <a:r>
              <a:rPr lang="en-US" altLang="de-DE" sz="2400" dirty="0">
                <a:solidFill>
                  <a:schemeClr val="accent5"/>
                </a:solidFill>
              </a:rPr>
              <a:t> images at up to </a:t>
            </a:r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45 frames per</a:t>
            </a:r>
          </a:p>
          <a:p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second (fps) </a:t>
            </a:r>
            <a:r>
              <a:rPr lang="en-US" altLang="de-DE" sz="2400" dirty="0">
                <a:solidFill>
                  <a:schemeClr val="accent5"/>
                </a:solidFill>
              </a:rPr>
              <a:t>on a high-end GPU, making it 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highly suitable for real-time applications.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Other : Faster R-CNN makes 5-7 fps.</a:t>
            </a:r>
          </a:p>
          <a:p>
            <a:endParaRPr lang="en-US" altLang="de-DE" sz="2400" dirty="0">
              <a:solidFill>
                <a:schemeClr val="accent5"/>
              </a:solidFill>
            </a:endParaRPr>
          </a:p>
          <a:p>
            <a:r>
              <a:rPr lang="en-US" altLang="de-DE" sz="2400" dirty="0">
                <a:solidFill>
                  <a:schemeClr val="accent5"/>
                </a:solidFill>
              </a:rPr>
              <a:t>YOLO achieves </a:t>
            </a:r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high accuracy </a:t>
            </a:r>
            <a:r>
              <a:rPr lang="en-US" altLang="de-DE" sz="2400" dirty="0">
                <a:solidFill>
                  <a:schemeClr val="accent5"/>
                </a:solidFill>
              </a:rPr>
              <a:t>by seeing the 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entire image </a:t>
            </a:r>
          </a:p>
          <a:p>
            <a:endParaRPr lang="en-US" altLang="de-DE" sz="2400" dirty="0">
              <a:solidFill>
                <a:schemeClr val="accent5"/>
              </a:solidFill>
            </a:endParaRPr>
          </a:p>
          <a:p>
            <a:r>
              <a:rPr lang="de-DE" altLang="de-DE" sz="2400" dirty="0">
                <a:solidFill>
                  <a:schemeClr val="tx2"/>
                </a:solidFill>
              </a:rPr>
              <a:t>Unified Architecture: 	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	YOLO detects objects and their labels 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	in one step, making the process faster 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	and simpler.</a:t>
            </a:r>
            <a:r>
              <a:rPr lang="de-DE" altLang="de-DE" sz="2400" dirty="0">
                <a:solidFill>
                  <a:schemeClr val="accent5"/>
                </a:solidFill>
              </a:rPr>
              <a:t>	</a:t>
            </a:r>
          </a:p>
          <a:p>
            <a:r>
              <a:rPr lang="de-DE" altLang="de-DE" sz="2400" dirty="0">
                <a:solidFill>
                  <a:schemeClr val="accent5"/>
                </a:solidFill>
              </a:rPr>
              <a:t>	</a:t>
            </a:r>
          </a:p>
          <a:p>
            <a:endParaRPr lang="de-DE" altLang="de-DE" sz="2400" dirty="0">
              <a:solidFill>
                <a:schemeClr val="accent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307C5-0B38-13C9-F3F0-22E565DC9FF7}"/>
              </a:ext>
            </a:extLst>
          </p:cNvPr>
          <p:cNvSpPr txBox="1"/>
          <p:nvPr/>
        </p:nvSpPr>
        <p:spPr>
          <a:xfrm>
            <a:off x="2300224" y="5049229"/>
            <a:ext cx="921727" cy="30777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000" dirty="0">
                <a:latin typeface="+mj-lt"/>
              </a:rPr>
              <a:t>YOLO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28EE4-A010-E90E-68D7-7CCBBC6DB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483" y="1586210"/>
            <a:ext cx="3358994" cy="33589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244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18B07EE-A45E-4446-A223-5B883B13E13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18B07EE-A45E-4446-A223-5B883B13E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8813BB-D448-4521-9F33-B74EFDC2BCD9}"/>
              </a:ext>
            </a:extLst>
          </p:cNvPr>
          <p:cNvSpPr/>
          <p:nvPr/>
        </p:nvSpPr>
        <p:spPr>
          <a:xfrm>
            <a:off x="5393227" y="1756020"/>
            <a:ext cx="5524168" cy="3600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F08B3-37B7-4D5C-80DD-85ECEA54CD23}"/>
              </a:ext>
            </a:extLst>
          </p:cNvPr>
          <p:cNvSpPr/>
          <p:nvPr/>
        </p:nvSpPr>
        <p:spPr>
          <a:xfrm>
            <a:off x="5500914" y="1758254"/>
            <a:ext cx="6691086" cy="35987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833B0-BA71-4453-853F-974C3C7535A2}"/>
              </a:ext>
            </a:extLst>
          </p:cNvPr>
          <p:cNvSpPr txBox="1"/>
          <p:nvPr/>
        </p:nvSpPr>
        <p:spPr>
          <a:xfrm>
            <a:off x="3694153" y="374189"/>
            <a:ext cx="2938305" cy="553998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3600" dirty="0">
                <a:latin typeface="+mj-lt"/>
              </a:rPr>
              <a:t>Requirement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D49EC-E6A4-4053-A5B4-CB9DBB8C3F88}"/>
              </a:ext>
            </a:extLst>
          </p:cNvPr>
          <p:cNvSpPr txBox="1"/>
          <p:nvPr/>
        </p:nvSpPr>
        <p:spPr>
          <a:xfrm>
            <a:off x="5723554" y="1893810"/>
            <a:ext cx="4406206" cy="3600986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High-End GPUs:</a:t>
            </a:r>
          </a:p>
          <a:p>
            <a:r>
              <a:rPr lang="en-US" b="1" dirty="0"/>
              <a:t>NVIDIA GeForce RTX 4090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CUDA Cores</a:t>
            </a:r>
            <a:r>
              <a:rPr lang="en-US" dirty="0"/>
              <a:t>: 16,384</a:t>
            </a:r>
          </a:p>
          <a:p>
            <a:pPr lvl="1"/>
            <a:r>
              <a:rPr lang="en-US" b="1" dirty="0"/>
              <a:t>Memory</a:t>
            </a:r>
            <a:r>
              <a:rPr lang="en-US" dirty="0"/>
              <a:t>: 24 GB GDDR6X</a:t>
            </a:r>
          </a:p>
          <a:p>
            <a:pPr lvl="1"/>
            <a:r>
              <a:rPr lang="en-US" b="1" dirty="0"/>
              <a:t>Tensor Cores</a:t>
            </a:r>
            <a:r>
              <a:rPr lang="en-US" dirty="0"/>
              <a:t>: 512 (for AI acceleration)</a:t>
            </a:r>
          </a:p>
          <a:p>
            <a:endParaRPr lang="en-IN" b="1" dirty="0"/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Mid-Range GPUs:</a:t>
            </a:r>
          </a:p>
          <a:p>
            <a:r>
              <a:rPr lang="en-IN" b="1" dirty="0"/>
              <a:t>NVIDIA GeForce RTX 3070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CUDA Cores</a:t>
            </a:r>
            <a:r>
              <a:rPr lang="en-IN" dirty="0"/>
              <a:t>: 5,888</a:t>
            </a:r>
          </a:p>
          <a:p>
            <a:pPr lvl="1"/>
            <a:r>
              <a:rPr lang="en-IN" b="1" dirty="0"/>
              <a:t>Memory</a:t>
            </a:r>
            <a:r>
              <a:rPr lang="en-IN" dirty="0"/>
              <a:t>: 8 GB GDDR6</a:t>
            </a:r>
          </a:p>
          <a:p>
            <a:pPr lvl="1"/>
            <a:r>
              <a:rPr lang="en-IN" b="1" dirty="0"/>
              <a:t>Tensor Cores</a:t>
            </a:r>
            <a:r>
              <a:rPr lang="en-IN" dirty="0"/>
              <a:t>: 184</a:t>
            </a:r>
          </a:p>
          <a:p>
            <a:pPr lvl="1"/>
            <a:r>
              <a:rPr lang="en-IN" b="1" dirty="0"/>
              <a:t>Key Features</a:t>
            </a:r>
            <a:r>
              <a:rPr lang="en-IN" dirty="0"/>
              <a:t>: Strong performance </a:t>
            </a:r>
          </a:p>
          <a:p>
            <a:pPr lvl="1"/>
            <a:endParaRPr lang="en-US" dirty="0"/>
          </a:p>
        </p:txBody>
      </p:sp>
      <p:pic>
        <p:nvPicPr>
          <p:cNvPr id="4100" name="Picture 4" descr="Gpu - Free computer icons">
            <a:extLst>
              <a:ext uri="{FF2B5EF4-FFF2-40B4-BE49-F238E27FC236}">
                <a16:creationId xmlns:a16="http://schemas.microsoft.com/office/drawing/2014/main" id="{EF5E5E36-7884-E0B3-8351-F22F30FEE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71" y="1557384"/>
            <a:ext cx="4080848" cy="408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008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18B07EE-A45E-4446-A223-5B883B13E13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18B07EE-A45E-4446-A223-5B883B13E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8813BB-D448-4521-9F33-B74EFDC2BCD9}"/>
              </a:ext>
            </a:extLst>
          </p:cNvPr>
          <p:cNvSpPr/>
          <p:nvPr/>
        </p:nvSpPr>
        <p:spPr>
          <a:xfrm>
            <a:off x="3892279" y="2010042"/>
            <a:ext cx="5524168" cy="32451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F08B3-37B7-4D5C-80DD-85ECEA54CD23}"/>
              </a:ext>
            </a:extLst>
          </p:cNvPr>
          <p:cNvSpPr/>
          <p:nvPr/>
        </p:nvSpPr>
        <p:spPr>
          <a:xfrm>
            <a:off x="3987511" y="1602762"/>
            <a:ext cx="6691086" cy="3725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833B0-BA71-4453-853F-974C3C7535A2}"/>
              </a:ext>
            </a:extLst>
          </p:cNvPr>
          <p:cNvSpPr txBox="1"/>
          <p:nvPr/>
        </p:nvSpPr>
        <p:spPr>
          <a:xfrm>
            <a:off x="3892279" y="426352"/>
            <a:ext cx="2483565" cy="553998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pPr algn="ctr"/>
            <a:r>
              <a:rPr lang="de-DE" altLang="de-DE" sz="3600" dirty="0"/>
              <a:t>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E0393-F388-6A1F-02AC-090206A84F33}"/>
              </a:ext>
            </a:extLst>
          </p:cNvPr>
          <p:cNvSpPr txBox="1"/>
          <p:nvPr/>
        </p:nvSpPr>
        <p:spPr>
          <a:xfrm>
            <a:off x="7021162" y="5381712"/>
            <a:ext cx="1675798" cy="280806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algn="ctr"/>
            <a:r>
              <a:rPr lang="de-DE" altLang="de-DE" dirty="0">
                <a:latin typeface="+mj-lt"/>
              </a:rPr>
              <a:t>Stream video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17493-D9A3-EF42-8857-D2CD358BA2A0}"/>
              </a:ext>
            </a:extLst>
          </p:cNvPr>
          <p:cNvSpPr txBox="1"/>
          <p:nvPr/>
        </p:nvSpPr>
        <p:spPr>
          <a:xfrm>
            <a:off x="5837911" y="2932076"/>
            <a:ext cx="65" cy="369332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endParaRPr lang="de-DE" altLang="de-DE" sz="2400" dirty="0">
              <a:solidFill>
                <a:schemeClr val="accent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FBE6BF-502B-B62B-93F7-1DADF41A28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983" y="2067921"/>
            <a:ext cx="6954306" cy="312943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B4C8152-A734-951B-6207-88058460F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11" y="1871172"/>
            <a:ext cx="3554268" cy="355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630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4030982" y="2567225"/>
            <a:ext cx="137858" cy="86177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800" spc="300" dirty="0">
                <a:solidFill>
                  <a:srgbClr val="CB225B"/>
                </a:solidFill>
              </a:rPr>
              <a:t> </a:t>
            </a:r>
          </a:p>
          <a:p>
            <a:endParaRPr lang="de-DE" altLang="de-DE" sz="2800" spc="300" dirty="0">
              <a:solidFill>
                <a:srgbClr val="CB225B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0D3EF05-A47A-CEE9-7C3A-5B9A41F2D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047" y="1213597"/>
            <a:ext cx="7176247" cy="3851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09908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LEVEL UP! POWERPOINT" val="nCGhHneJ"/>
  <p:tag name="ARTICULATE_SLIDE_THUMBNAIL_REFRESH" val="1"/>
  <p:tag name="ARTICULATE_SLIDE_COUNT" val="22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WafMjsWiZAvtFQNKyrA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_ZcveFcTuSouPSNhUDFi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vel up! PowerPoint">
  <a:themeElements>
    <a:clrScheme name="Level up! PowerPoint">
      <a:dk1>
        <a:srgbClr val="353B48"/>
      </a:dk1>
      <a:lt1>
        <a:srgbClr val="F5F6FA"/>
      </a:lt1>
      <a:dk2>
        <a:srgbClr val="1A1D24"/>
      </a:dk2>
      <a:lt2>
        <a:srgbClr val="FFFFFF"/>
      </a:lt2>
      <a:accent1>
        <a:srgbClr val="00A8FF"/>
      </a:accent1>
      <a:accent2>
        <a:srgbClr val="FBC531"/>
      </a:accent2>
      <a:accent3>
        <a:srgbClr val="4CD137"/>
      </a:accent3>
      <a:accent4>
        <a:srgbClr val="E84118"/>
      </a:accent4>
      <a:accent5>
        <a:srgbClr val="7F8FA1"/>
      </a:accent5>
      <a:accent6>
        <a:srgbClr val="273C75"/>
      </a:accent6>
      <a:hlink>
        <a:srgbClr val="5B5B5B"/>
      </a:hlink>
      <a:folHlink>
        <a:srgbClr val="BFBFBF"/>
      </a:folHlink>
    </a:clrScheme>
    <a:fontScheme name="Level up! PowerPoint">
      <a:majorFont>
        <a:latin typeface="Segoe UI Black"/>
        <a:ea typeface=""/>
        <a:cs typeface=""/>
      </a:majorFont>
      <a:minorFont>
        <a:latin typeface="Segoe UI Semibold"/>
        <a:ea typeface=""/>
        <a:cs typeface=""/>
      </a:minorFont>
    </a:fontScheme>
    <a:fmtScheme name="Level up! PowerPoint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73152" tIns="73152" rIns="73152" bIns="73152" numCol="1" rtlCol="0" anchor="ctr"/>
      <a:lstStyle>
        <a:defPPr algn="ctr">
          <a:defRPr sz="10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 numCol="1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numCol="1" rtlCol="0">
        <a:spAutoFit/>
      </a:bodyPr>
      <a:lstStyle>
        <a:defPPr algn="l">
          <a:defRPr sz="1400" kern="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YouTube Template.potx" id="{09A9FD79-4AD2-4296-A2DD-9F92A25C9D11}" vid="{BFDEAB75-776D-4FD4-B1CD-15298D2A28B5}"/>
    </a:ext>
  </a:extLst>
</a:theme>
</file>

<file path=ppt/theme/theme2.xml><?xml version="1.0" encoding="utf-8"?>
<a:theme xmlns:a="http://schemas.openxmlformats.org/drawingml/2006/main" name="Level up! PowerPoint">
  <a:themeElements>
    <a:clrScheme name="Level up! PowerPoint">
      <a:dk1>
        <a:srgbClr val="353B48"/>
      </a:dk1>
      <a:lt1>
        <a:srgbClr val="F5F6FA"/>
      </a:lt1>
      <a:dk2>
        <a:srgbClr val="1A1D24"/>
      </a:dk2>
      <a:lt2>
        <a:srgbClr val="FFFFFF"/>
      </a:lt2>
      <a:accent1>
        <a:srgbClr val="00A8FF"/>
      </a:accent1>
      <a:accent2>
        <a:srgbClr val="FBC531"/>
      </a:accent2>
      <a:accent3>
        <a:srgbClr val="4CD137"/>
      </a:accent3>
      <a:accent4>
        <a:srgbClr val="E84118"/>
      </a:accent4>
      <a:accent5>
        <a:srgbClr val="7F8FA1"/>
      </a:accent5>
      <a:accent6>
        <a:srgbClr val="273C75"/>
      </a:accent6>
      <a:hlink>
        <a:srgbClr val="5B5B5B"/>
      </a:hlink>
      <a:folHlink>
        <a:srgbClr val="BFBFBF"/>
      </a:folHlink>
    </a:clrScheme>
    <a:fontScheme name="Level up! PowerPoint">
      <a:majorFont>
        <a:latin typeface="Segoe UI Black"/>
        <a:ea typeface=""/>
        <a:cs typeface=""/>
      </a:majorFont>
      <a:minorFont>
        <a:latin typeface="Segoe UI Semibold"/>
        <a:ea typeface=""/>
        <a:cs typeface=""/>
      </a:minorFont>
    </a:fontScheme>
    <a:fmtScheme name="Level up! PowerPoint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73152" tIns="73152" rIns="73152" bIns="73152" numCol="1" rtlCol="0" anchor="ctr"/>
      <a:lstStyle>
        <a:defPPr algn="ctr">
          <a:defRPr sz="10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 numCol="1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numCol="1" rtlCol="0">
        <a:spAutoFit/>
      </a:bodyPr>
      <a:lstStyle>
        <a:defPPr algn="l">
          <a:defRPr sz="1400" kern="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YouTube Template.potx" id="{78599F88-281C-49F3-85D0-E1461EE50E6A}" vid="{6CF95794-CF56-4202-9084-2222FB314BAE}"/>
    </a:ext>
  </a:extLst>
</a:theme>
</file>

<file path=ppt/theme/theme3.xml><?xml version="1.0" encoding="utf-8"?>
<a:theme xmlns:a="http://schemas.openxmlformats.org/drawingml/2006/main" name="Level up! PowerPoint">
  <a:themeElements>
    <a:clrScheme name="Level up! PowerPoint">
      <a:dk1>
        <a:srgbClr val="353B48"/>
      </a:dk1>
      <a:lt1>
        <a:srgbClr val="F5F6FA"/>
      </a:lt1>
      <a:dk2>
        <a:srgbClr val="1A1D24"/>
      </a:dk2>
      <a:lt2>
        <a:srgbClr val="FFFFFF"/>
      </a:lt2>
      <a:accent1>
        <a:srgbClr val="00A8FF"/>
      </a:accent1>
      <a:accent2>
        <a:srgbClr val="FBC531"/>
      </a:accent2>
      <a:accent3>
        <a:srgbClr val="4CD137"/>
      </a:accent3>
      <a:accent4>
        <a:srgbClr val="E84118"/>
      </a:accent4>
      <a:accent5>
        <a:srgbClr val="7F8FA1"/>
      </a:accent5>
      <a:accent6>
        <a:srgbClr val="273C75"/>
      </a:accent6>
      <a:hlink>
        <a:srgbClr val="5B5B5B"/>
      </a:hlink>
      <a:folHlink>
        <a:srgbClr val="BFBFBF"/>
      </a:folHlink>
    </a:clrScheme>
    <a:fontScheme name="Level up! PowerPoint">
      <a:majorFont>
        <a:latin typeface="Segoe UI Black"/>
        <a:ea typeface=""/>
        <a:cs typeface=""/>
      </a:majorFont>
      <a:minorFont>
        <a:latin typeface="Segoe UI Semibold"/>
        <a:ea typeface=""/>
        <a:cs typeface=""/>
      </a:minorFont>
    </a:fontScheme>
    <a:fmtScheme name="Level up! PowerPoint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73152" tIns="73152" rIns="73152" bIns="73152" numCol="1" rtlCol="0" anchor="ctr"/>
      <a:lstStyle>
        <a:defPPr algn="ctr">
          <a:defRPr sz="10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 numCol="1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numCol="1" rtlCol="0">
        <a:spAutoFit/>
      </a:bodyPr>
      <a:lstStyle>
        <a:defPPr algn="l">
          <a:defRPr sz="1400" kern="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YouTube Template.potx" id="{78599F88-281C-49F3-85D0-E1461EE50E6A}" vid="{6CF95794-CF56-4202-9084-2222FB314BA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YouTube Template</Template>
  <TotalTime>7992</TotalTime>
  <Words>235</Words>
  <Application>Microsoft Office PowerPoint</Application>
  <PresentationFormat>Widescreen</PresentationFormat>
  <Paragraphs>61</Paragraphs>
  <Slides>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Segoe UI Black</vt:lpstr>
      <vt:lpstr>Segoe UI Semibold</vt:lpstr>
      <vt:lpstr>Level up! PowerPoint</vt:lpstr>
      <vt:lpstr>think-cell Slide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Sandach, Martyna</dc:creator>
  <cp:keywords/>
  <cp:lastModifiedBy>919894463310</cp:lastModifiedBy>
  <cp:revision>130</cp:revision>
  <dcterms:created xsi:type="dcterms:W3CDTF">2018-05-09T07:34:30Z</dcterms:created>
  <dcterms:modified xsi:type="dcterms:W3CDTF">2024-07-28T16:01:52Z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MSOLanguageID">
    <vt:lpwstr>msoLanguageIDEnglishUS</vt:lpwstr>
  </property>
  <property fmtid="{D5CDD505-2E9C-101B-9397-08002B2CF9AE}" pid="3" name="ArticulateGUID">
    <vt:lpwstr>BF279434-19CC-4F2C-940F-B1DCEF3AD2ED</vt:lpwstr>
  </property>
  <property fmtid="{D5CDD505-2E9C-101B-9397-08002B2CF9AE}" pid="4" name="ArticulatePath">
    <vt:lpwstr>Create carousel effect with Morph - Template</vt:lpwstr>
  </property>
</Properties>
</file>